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🧠  </a:t>
            </a:r>
            <a:r>
              <a:rPr dirty="0" err="1"/>
              <a:t>FoodWiseAI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1"/>
                </a:solidFill>
                <a:latin typeface="Calibri"/>
              </a:defRPr>
            </a:pPr>
            <a:r>
              <a:t>Visual Appetite Recommendation Engine Powered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B35"/>
                </a:solidFill>
                <a:latin typeface="Calibri"/>
              </a:defRPr>
            </a:pPr>
            <a:r>
              <a:t>Convolutional Neural Networks (CNN)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Neural Networks and Deep Learning  •  SEM-7  •  Amrita Vishwa Vidyapeetham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846320"/>
            <a:ext cx="2926080" cy="118872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08760" y="49377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35"/>
                </a:solidFill>
                <a:latin typeface="Calibri"/>
              </a:defRPr>
            </a:pPr>
            <a:r>
              <a:t>📐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53035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4-Block CNN Encoder</a:t>
            </a:r>
            <a:br/>
            <a:r>
              <a:t>128-D Visual Embeddings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4846320"/>
            <a:ext cx="2926080" cy="118872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49377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35"/>
                </a:solidFill>
                <a:latin typeface="Calibri"/>
              </a:defRPr>
            </a:pPr>
            <a:r>
              <a:t>📊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53035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Food-101 (ETH Zurich)</a:t>
            </a:r>
            <a:br/>
            <a:r>
              <a:t>10-Category Curated Subset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4846320"/>
            <a:ext cx="2926080" cy="118872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49377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35"/>
                </a:solidFill>
                <a:latin typeface="Calibri"/>
              </a:defRPr>
            </a:pPr>
            <a:r>
              <a:t>⚡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53035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PyTorch • FastAPI • NumPy</a:t>
            </a:r>
            <a:br/>
            <a:r>
              <a:t>React Native • Expo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35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Problem Statement, Introduction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Why visual appetite profiling is needed in food 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14400"/>
            <a:ext cx="5394960" cy="237744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FF6B35"/>
                </a:solidFill>
                <a:latin typeface="Calibri"/>
              </a:defRPr>
            </a:pPr>
            <a:r>
              <a:t>⚠️  PROBLEM STATEMENT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Traditional food delivery apps (Swiggy, Zomato, DoorDash) rely on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text-based filtering — ratings, price, cuisine keywords, past orders.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These methods FAIL to capture the visual appetite of a user: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the subconscious attraction to a dish's texture, color palette,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arrangement, and presentation style that drives 60-70% of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food ordering decisions.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914400"/>
            <a:ext cx="5577840" cy="237744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96012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38BDF8"/>
                </a:solidFill>
                <a:latin typeface="Calibri"/>
              </a:defRPr>
            </a:pPr>
            <a:r>
              <a:t>📘  INTRODUCTION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FoodWiseAI is a Visual Appetite Recommendation Engine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that uses a custom Convolutional Neural Network (CNN)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to extract deep visual features from food images and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generate personalized recommendations based on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visual similarity rather than textual metadata.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38BDF8"/>
                </a:solidFill>
                <a:latin typeface="Calibri"/>
              </a:defRPr>
            </a:pPr>
            <a:r>
              <a:t>Output: 128-D L2-normalized embedding per dish image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66160"/>
            <a:ext cx="2697480" cy="292608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Calibri"/>
              </a:defRPr>
            </a:pPr>
            <a:r>
              <a:t>🎯 Visual-First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2514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60–70% of food ordering decisions</a:t>
            </a:r>
            <a:br/>
            <a:r>
              <a:t>are influenced by dish photographs,</a:t>
            </a:r>
            <a:br/>
            <a:r>
              <a:t>not text descriptions.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3566160"/>
            <a:ext cx="2697480" cy="292608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29000" y="36576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❄️ Cold-Start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114800"/>
            <a:ext cx="2514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New users with no order history</a:t>
            </a:r>
            <a:br/>
            <a:r>
              <a:t>receive generic recommendations.</a:t>
            </a:r>
            <a:br/>
            <a:r>
              <a:t>Visual profiling bypasses this.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66160"/>
            <a:ext cx="2697480" cy="292608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36576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Calibri"/>
              </a:defRPr>
            </a:pPr>
            <a:r>
              <a:t>🔬 Fine-Grained Distinction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114800"/>
            <a:ext cx="2514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Text tags like 'Indian' are too coarse.</a:t>
            </a:r>
            <a:br/>
            <a:r>
              <a:t>CNN distinguishes butter chicken from</a:t>
            </a:r>
            <a:br/>
            <a:r>
              <a:t>tandoori chicken at pixel level.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3566160"/>
            <a:ext cx="2697480" cy="292608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89720" y="36576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📚 Gap in Literature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4114800"/>
            <a:ext cx="2514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Most recommenders use Collaborative</a:t>
            </a:r>
            <a:br/>
            <a:r>
              <a:t>or Content-Based filtering on metadata.</a:t>
            </a:r>
            <a:br/>
            <a:r>
              <a:t>Visual learning is underexplored.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Literature Surve</a:t>
            </a:r>
            <a:r>
              <a:rPr lang="en-US" dirty="0"/>
              <a:t>y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 / 12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BD70BAF-7F54-0CB5-1AD7-02794FB3F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29" y="723207"/>
            <a:ext cx="11736341" cy="56283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Architecture Diagram — Overall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End-to-end system architecture: Mobile Client → Backend API → Tri-Model AI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11430000" cy="137160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📱  MOBILE CLIENT  (React Native / Expo)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192024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41732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6B35"/>
                </a:solidFill>
                <a:latin typeface="Calibri"/>
              </a:defRPr>
            </a:pPr>
            <a:r>
              <a:t>Swipe Profiler</a:t>
            </a:r>
            <a:br/>
            <a:r>
              <a:t>(Tinder UI)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371600"/>
            <a:ext cx="192024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80360" y="141732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2C55E"/>
                </a:solidFill>
                <a:latin typeface="Calibri"/>
              </a:defRPr>
            </a:pPr>
            <a:r>
              <a:t>Smart Feed</a:t>
            </a:r>
            <a:br/>
            <a:r>
              <a:t>(Match 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371600"/>
            <a:ext cx="192024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74920" y="141732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78BFA"/>
                </a:solidFill>
                <a:latin typeface="Calibri"/>
              </a:defRPr>
            </a:pPr>
            <a:r>
              <a:t>Profile /</a:t>
            </a:r>
            <a:br/>
            <a:r>
              <a:t>Orders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1371600"/>
            <a:ext cx="192024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69480" y="141732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472B6"/>
                </a:solidFill>
                <a:latin typeface="Calibri"/>
              </a:defRPr>
            </a:pPr>
            <a:r>
              <a:t>Explore /</a:t>
            </a:r>
            <a:br/>
            <a:r>
              <a:t>Search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1371600"/>
            <a:ext cx="192024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64040" y="141732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ACC15"/>
                </a:solidFill>
                <a:latin typeface="Calibri"/>
              </a:defRPr>
            </a:pPr>
            <a:r>
              <a:t>Food Detail</a:t>
            </a:r>
            <a:br/>
            <a:r>
              <a:t>(Macro View)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331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▼  Axios HTTP (REST API)  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697480"/>
            <a:ext cx="11430000" cy="146304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743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Calibri"/>
              </a:defRPr>
            </a:pPr>
            <a:r>
              <a:t>⚙️  BACKEND SERVER  (FastAPI + Uvicorn)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108960"/>
            <a:ext cx="256032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3136392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8BDF8"/>
                </a:solidFill>
                <a:latin typeface="Calibri"/>
              </a:defRPr>
            </a:pPr>
            <a:r>
              <a:t>GET /profiler-cards</a:t>
            </a:r>
            <a:br/>
            <a:r>
              <a:t>Serve swipe card deck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3108960"/>
            <a:ext cx="256032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20440" y="3136392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6B35"/>
                </a:solidFill>
                <a:latin typeface="Calibri"/>
              </a:defRPr>
            </a:pPr>
            <a:r>
              <a:t>POST /taste-profile</a:t>
            </a:r>
            <a:br/>
            <a:r>
              <a:t>3-Model recommendation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108960"/>
            <a:ext cx="256032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80" y="3136392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2C55E"/>
                </a:solidFill>
                <a:latin typeface="Calibri"/>
              </a:defRPr>
            </a:pPr>
            <a:r>
              <a:t>Recommendation Engine</a:t>
            </a:r>
            <a:br/>
            <a:r>
              <a:t>Vector Aggregation +</a:t>
            </a:r>
            <a:br/>
            <a:r>
              <a:t>Cosine Similarity Ranking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3108960"/>
            <a:ext cx="256032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89720" y="3136392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Static File Server</a:t>
            </a:r>
            <a:br/>
            <a:r>
              <a:t>/dataset/* image serving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▼  AI Module Invocation  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4572000"/>
            <a:ext cx="11430000" cy="201168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4617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Calibri"/>
              </a:defRPr>
            </a:pPr>
            <a:r>
              <a:t>🧠  AI / ML SUBSYSTEM  (PyTorch + NumPy)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983480"/>
            <a:ext cx="256032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2" y="502920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6B35"/>
                </a:solidFill>
                <a:latin typeface="Calibri"/>
              </a:defRPr>
            </a:pPr>
            <a:r>
              <a:t>MODEL 1: CNN</a:t>
            </a:r>
            <a:br/>
            <a:r>
              <a:t>Visual Feature Encoder</a:t>
            </a:r>
            <a:br/>
            <a:br/>
            <a:r>
              <a:t>Input: 224×224×3 RGB</a:t>
            </a:r>
            <a:br/>
            <a:r>
              <a:t>Output: 128-D L2 Vector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74720" y="4983480"/>
            <a:ext cx="256032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47872" y="502920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78BFA"/>
                </a:solidFill>
                <a:latin typeface="Calibri"/>
              </a:defRPr>
            </a:pPr>
            <a:r>
              <a:t>MODEL 2: Autoencoder</a:t>
            </a:r>
            <a:br/>
            <a:r>
              <a:t>Profile Bottleneck</a:t>
            </a:r>
            <a:br/>
            <a:br/>
            <a:r>
              <a:t>Input: 16-D Survey Vec</a:t>
            </a:r>
            <a:br/>
            <a:r>
              <a:t>Output: 64-D Latent Vec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983480"/>
            <a:ext cx="256032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82512" y="502920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8BDF8"/>
                </a:solidFill>
                <a:latin typeface="Calibri"/>
              </a:defRPr>
            </a:pPr>
            <a:r>
              <a:t>MODEL 3: NCF Siamese</a:t>
            </a:r>
            <a:br/>
            <a:r>
              <a:t>Deep Match Engine</a:t>
            </a:r>
            <a:br/>
            <a:br/>
            <a:r>
              <a:t>Input: 64-D + 128-D</a:t>
            </a:r>
            <a:br/>
            <a:r>
              <a:t>Output: Score 0-100%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4983480"/>
            <a:ext cx="256032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17152" y="502920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2C55E"/>
                </a:solidFill>
                <a:latin typeface="Calibri"/>
              </a:defRPr>
            </a:pPr>
            <a:r>
              <a:t>Dataset Pipeline</a:t>
            </a:r>
            <a:br/>
            <a:r>
              <a:t>Food-101 + Curated</a:t>
            </a:r>
            <a:br/>
            <a:br/>
            <a:r>
              <a:t>10 Categories</a:t>
            </a:r>
            <a:br/>
            <a:r>
              <a:t>→ dataset_embed.json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35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Module Details — FoodWiseCNNEncoder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Deep Convolutional Visual Feature Extractor: Layer-by-layer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5029200" cy="182880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FF6B35"/>
                </a:solidFill>
                <a:latin typeface="Calibri"/>
              </a:defRPr>
            </a:pPr>
            <a:r>
              <a:t>📦  MODULE OVERVIEW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File:  ai/models/encoder.py (PyTorch) + cnn_encoder.py (NumPy)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Framework:  PyTorch (torch.nn.Module) with NumPy fallback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Input:  RGB food image → 224 × 224 × 3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Output:  128-D L2-normalized float vector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Purpose:  Extract visual features for similarity-based recommendation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914400"/>
            <a:ext cx="6126480" cy="182880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160" y="960120"/>
            <a:ext cx="5760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38BDF8"/>
                </a:solidFill>
                <a:latin typeface="Calibri"/>
              </a:defRPr>
            </a:pPr>
            <a:r>
              <a:t>🔧  PREPROCESSING PIPELINE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1. Resize(224, 224)  — Standard CNN input resolution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2. ToTensor()  — HWC uint8 → CHW float32 [0, 1]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3. Normalize(mean=[0.485,0.456,0.406], std=[0.229,0.224,0.225])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Uses ImageNet channel statistics for distribution matching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38BDF8"/>
                </a:solidFill>
                <a:latin typeface="Calibri"/>
              </a:defRPr>
            </a:pPr>
            <a:r>
              <a:t>Fallback: Resize to 112×112, Spatial Grid Pooling 4×4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01752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6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Sub-Module</a:t>
                      </a:r>
                    </a:p>
                  </a:txBody>
                  <a:tcPr marL="50800" marR="50800" marT="25400" marB="25400"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marL="50800" marR="50800" marT="25400" marB="25400"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Configuration</a:t>
                      </a:r>
                    </a:p>
                  </a:txBody>
                  <a:tcPr marL="50800" marR="50800" marT="25400" marB="25400"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 Shape</a:t>
                      </a:r>
                    </a:p>
                  </a:txBody>
                  <a:tcPr marL="50800" marR="50800" marT="25400" marB="25400">
                    <a:solidFill>
                      <a:srgbClr val="FF6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Conv Block 1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Conv2d+BN+ReLU+Pool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3→16, k=3×3, p=1, pool=2×2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(16, 112, 112)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Conv Block 2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Conv2d+BN+ReLU+Pool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16→32, k=3×3, p=1, pool=2×2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(32, 56, 56)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Conv Block 3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Conv2d+BN+ReLU+Pool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32→64, k=3×3, p=1, pool=2×2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(64, 28, 28)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Conv Block 4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Conv2d+BN+ReLU+Pool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64→128, k=3×3, p=1, pool=2×2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(128, 14, 14)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Flatten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Reshape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128 × 14 × 14 = 25,088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(25088,)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FC Layer 1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Linear+ReLU+Dropout(0.3)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25,088 → 512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(512,)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FC Layer 2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Linear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512 → 128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(128,)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L2 Normalize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F.normalize(p=2)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Unit sphere projection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(128,) unit vec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Performance Metrics — Formulas &amp; Best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Metric name, formula, purpose, suitability, and best values from literature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 / 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00584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3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 Name</a:t>
                      </a:r>
                    </a:p>
                  </a:txBody>
                  <a:tcPr marL="50800" marR="50800" marT="25400" marB="25400"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Formula</a:t>
                      </a:r>
                    </a:p>
                  </a:txBody>
                  <a:tcPr marL="50800" marR="50800" marT="25400" marB="25400"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marL="50800" marR="50800" marT="25400" marB="25400"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Suitability for FoodWiseAI</a:t>
                      </a:r>
                    </a:p>
                  </a:txBody>
                  <a:tcPr marL="50800" marR="50800" marT="25400" marB="25400"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Values (Literature)</a:t>
                      </a:r>
                    </a:p>
                  </a:txBody>
                  <a:tcPr marL="50800" marR="50800" marT="25400" marB="25400">
                    <a:solidFill>
                      <a:srgbClr val="22C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Top-1 Accuracy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Acc = Correct / Total × 100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How often top prediction</a:t>
                      </a:r>
                    </a:p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matches ground truth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Primary metric for CNN</a:t>
                      </a:r>
                    </a:p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classification on Food-101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90.1% (ResNet-50)</a:t>
                      </a:r>
                    </a:p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93.2% (CNN-ViT Hybrid)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Cosine Similarity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cos(θ) = (A·B) / (||A||×||B||)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Angular closeness between</a:t>
                      </a:r>
                    </a:p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user vec &amp; dish embedding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Core ranking metric:</a:t>
                      </a:r>
                    </a:p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higher = better visual match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≥0.85 Perfect Match</a:t>
                      </a:r>
                    </a:p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≥0.70 Recommended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Feature Extraction</a:t>
                      </a:r>
                    </a:p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Loss (MSE)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 = (1/N) Σ(yi − ŷi)²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Reconstruction quality</a:t>
                      </a:r>
                    </a:p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during encoder training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Ensures CNN learns meaningful</a:t>
                      </a:r>
                    </a:p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visual representations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&lt; 0.05 after 5 epochs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L2 Norm</a:t>
                      </a:r>
                    </a:p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(Embedding Quality)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||v||₂ = √(Σ vi²)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Verifies embeddings on</a:t>
                      </a:r>
                    </a:p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unit hypersphere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Guarantees cosine sim is</a:t>
                      </a:r>
                    </a:p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bounded in [-1, 1]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Exactly 1.0</a:t>
                      </a:r>
                    </a:p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(post-normalization)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Top-K Hit Rate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HR@K = Users_hit / Total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Preferred dish in</a:t>
                      </a:r>
                    </a:p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top-K recommendations?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End-to-end recommendation</a:t>
                      </a:r>
                    </a:p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quality evaluation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≥ 0.80 for HR@10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Calibri"/>
              </a:defRPr>
            </a:pPr>
            <a:r>
              <a:t>S6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Deep Learning Architecture — Diagram &amp;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FoodWiseCNNEncoder: 4-block convolutional visual feature extractor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914400"/>
            <a:ext cx="4023360" cy="566928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a. ARCHITECTURE DIAGRAM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365760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389888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ACC15"/>
                </a:solidFill>
                <a:latin typeface="Calibri"/>
              </a:defRPr>
            </a:pPr>
            <a:r>
              <a:t>INPUT IMAGE</a:t>
            </a:r>
            <a:br/>
            <a:r>
              <a:t>3 × 224 × 224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783080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901952"/>
            <a:ext cx="365760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920240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6B35"/>
                </a:solidFill>
                <a:latin typeface="Calibri"/>
              </a:defRPr>
            </a:pPr>
            <a:r>
              <a:t>CONV BLOCK 1:  Conv2d(3→16) + BN + ReLU + Pool</a:t>
            </a:r>
            <a:br/>
            <a:r>
              <a:t>Output: 16 × 112 × 112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31343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432304"/>
            <a:ext cx="365760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450592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6B35"/>
                </a:solidFill>
                <a:latin typeface="Calibri"/>
              </a:defRPr>
            </a:pPr>
            <a:r>
              <a:t>CONV BLOCK 2:  Conv2d(16→32) + BN + ReLU + Pool</a:t>
            </a:r>
            <a:br/>
            <a:r>
              <a:t>Output: 32 × 56 × 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843784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962656"/>
            <a:ext cx="365760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2980944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6B35"/>
                </a:solidFill>
                <a:latin typeface="Calibri"/>
              </a:defRPr>
            </a:pPr>
            <a:r>
              <a:t>CONV BLOCK 3:  Conv2d(32→64) + BN + ReLU + Pool</a:t>
            </a:r>
            <a:br/>
            <a:r>
              <a:t>Output: 64 × 28 × 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374136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93008"/>
            <a:ext cx="365760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511296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6B35"/>
                </a:solidFill>
                <a:latin typeface="Calibri"/>
              </a:defRPr>
            </a:pPr>
            <a:r>
              <a:t>CONV BLOCK 4:  Conv2d(64→128) + BN + ReLU + Pool</a:t>
            </a:r>
            <a:br/>
            <a:r>
              <a:t>Output: 128 × 14 × 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3904488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023360"/>
            <a:ext cx="365760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4041648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FLATTEN:  128 × 14 × 14 = 25,088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434840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553712"/>
            <a:ext cx="365760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4572000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8BDF8"/>
                </a:solidFill>
                <a:latin typeface="Calibri"/>
              </a:defRPr>
            </a:pPr>
            <a:r>
              <a:t>FC1: Linear(25088→512) + ReLU + Dropout(0.3)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496519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084064"/>
            <a:ext cx="365760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5102352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8BDF8"/>
                </a:solidFill>
                <a:latin typeface="Calibri"/>
              </a:defRPr>
            </a:pPr>
            <a:r>
              <a:t>FC2: Linear(512→128)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5495544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4748B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614416"/>
            <a:ext cx="365760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5632704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C55E"/>
                </a:solidFill>
                <a:latin typeface="Calibri"/>
              </a:defRPr>
            </a:pPr>
            <a:r>
              <a:t>L2 NORM → 128-D Unit Vector 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0" y="914400"/>
            <a:ext cx="7223760" cy="274320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54880" y="960120"/>
            <a:ext cx="6858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38BDF8"/>
                </a:solidFill>
                <a:latin typeface="Calibri"/>
              </a:defRPr>
            </a:pPr>
            <a:r>
              <a:t>b. EXPLANATION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The FoodWiseCNNEncoder is a custom 4-layer deep CNN designed</a:t>
            </a:r>
          </a:p>
          <a:p>
            <a:pPr algn="l">
              <a:spcAft>
                <a:spcPts val="3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as a metric learning encoder — NOT a classifier (no softmax).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Conv Blocks 1-4: Progressively extract hierarchical features —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edges/colors (B1) → textures (B2) → compositions (B3) → identity (B4)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BatchNorm: Stabilizes training, allows higher learning rates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MaxPooling: 2× spatial reduction per block, translation invariance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FC Layers: Compress 25,088-D → 512-D → 128-D with dropout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L2 Norm: Projects onto unit hypersphere for cosine similarity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0" y="3840480"/>
            <a:ext cx="3474720" cy="274320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54880" y="388620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22C55E"/>
                </a:solidFill>
                <a:latin typeface="Calibri"/>
              </a:defRPr>
            </a:pPr>
            <a:r>
              <a:t>c. NOVELTY PROPOSED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1. Visual Appetite Profiling: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CBD5E1"/>
                </a:solidFill>
                <a:latin typeface="Calibri"/>
              </a:defRPr>
            </a:pPr>
            <a:r>
              <a:t>   CNN learns from pixels, not text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2. Embedding-Space Ranking: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CBD5E1"/>
                </a:solidFill>
                <a:latin typeface="Calibri"/>
              </a:defRPr>
            </a:pPr>
            <a:r>
              <a:t>   No softmax — continuous 128-D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CBD5E1"/>
                </a:solidFill>
                <a:latin typeface="Calibri"/>
              </a:defRPr>
            </a:pPr>
            <a:r>
              <a:t>   cosine similarity for real-time rank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3. Dual-Mode Execution: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CBD5E1"/>
                </a:solidFill>
                <a:latin typeface="Calibri"/>
              </a:defRPr>
            </a:pPr>
            <a:r>
              <a:t>   PyTorch + NumPy SHA-256 fallback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4. Dynamic Swipe Aggregation: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CBD5E1"/>
                </a:solidFill>
                <a:latin typeface="Calibri"/>
              </a:defRPr>
            </a:pPr>
            <a:r>
              <a:t>   Mean-aggregate liked embeddings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21040" y="3840480"/>
            <a:ext cx="3474720" cy="274320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03920" y="388620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FACC15"/>
                </a:solidFill>
                <a:latin typeface="Calibri"/>
              </a:defRPr>
            </a:pPr>
            <a:r>
              <a:t>d. TIME &amp; SPACE COMPLEXITY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Total Parameters: ~12.9M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FLOPs/Inference: ~450 MFLOPs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000" b="1">
                <a:solidFill>
                  <a:srgbClr val="FFFFFF"/>
                </a:solidFill>
                <a:latin typeface="Calibri"/>
              </a:defRPr>
            </a:pPr>
            <a:r>
              <a:t>Time (Forward Pass):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O(K²·Cin·Cout·H·W) per Conv layer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Space (Model): ~52 MB (FP32)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Space (Embedding): 512 bytes/img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FACC15"/>
                </a:solidFill>
                <a:latin typeface="Calibri"/>
              </a:defRPr>
            </a:pPr>
            <a:r>
              <a:t>Latency: ~8-15ms (GPU)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       ~50-80ms (CPU)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Calibri"/>
              </a:defRPr>
            </a:pPr>
            <a:r>
              <a:t>S7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Algorithm Procedure — Step-by-Step (Mathematical)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CNN Visual Feature Extraction &amp; Cosine Similarity Recommendation Ranking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914400"/>
            <a:ext cx="2743200" cy="274320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960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Calibri"/>
              </a:defRPr>
            </a:pPr>
            <a:r>
              <a:t>Step 1: Image Preprocessing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Consolas"/>
              </a:defRPr>
            </a:pPr>
            <a:r>
              <a:t>I_resized = Resize(I, 224×224)</a:t>
            </a:r>
            <a:br/>
            <a:r>
              <a:t>I_tensor = I_resized / 255.0 ∈ [0,1]</a:t>
            </a:r>
            <a:br/>
            <a:r>
              <a:t>I_norm(c) = (I_tensor(c) − μc) / σc</a:t>
            </a:r>
            <a:br/>
            <a:r>
              <a:t>μ=[0.485,0.456,0.406], σ=[0.229,0.224,0.225]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914400"/>
            <a:ext cx="2743200" cy="274320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0" y="960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35"/>
                </a:solidFill>
                <a:latin typeface="Calibri"/>
              </a:defRPr>
            </a:pPr>
            <a:r>
              <a:t>Step 2: Conv Feature Extraction (×4 blocks)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32588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Consolas"/>
              </a:defRPr>
            </a:pPr>
            <a:r>
              <a:t>Z_l = Conv2d(X_{l-1}, W_l, b_l)</a:t>
            </a:r>
            <a:br/>
            <a:r>
              <a:t>Ẑ_l = BatchNorm(Z_l) = γ·(Z_l−μ_B)/√(σ²_B+ε)+β</a:t>
            </a:r>
            <a:br/>
            <a:r>
              <a:t>A_l = ReLU(Ẑ_l) = max(0, Ẑ_l)</a:t>
            </a:r>
            <a:br/>
            <a:r>
              <a:t>X_l = MaxPool₂×₂(A_l)   [spatial halved]</a:t>
            </a:r>
            <a:br/>
            <a:r>
              <a:t>Channels: 3→16→32→64→128</a:t>
            </a:r>
            <a:br/>
            <a:r>
              <a:t>Spatial: 224→112→56→28→14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914400"/>
            <a:ext cx="2743200" cy="274320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960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Calibri"/>
              </a:defRPr>
            </a:pPr>
            <a:r>
              <a:t>Step 3: Flatten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32588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Consolas"/>
              </a:defRPr>
            </a:pPr>
            <a:r>
              <a:t>f⃗ = Flatten(X_4) ∈ ℝ²⁵⁰⁸⁸</a:t>
            </a:r>
            <a:br/>
            <a:r>
              <a:t>where 128 × 14 × 14 = 25,088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914400"/>
            <a:ext cx="2743200" cy="274320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0" y="960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Calibri"/>
              </a:defRPr>
            </a:pPr>
            <a:r>
              <a:t>Step 4: Fully Connected Layers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32588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Consolas"/>
              </a:defRPr>
            </a:pPr>
            <a:r>
              <a:t>h⃗₁ = ReLU(W_fc1 · f⃗ + b⃗_fc1) ∈ ℝ⁵¹²</a:t>
            </a:r>
            <a:br/>
            <a:r>
              <a:t>h⃗₁' = Dropout(h⃗₁, p=0.3)   [training only]</a:t>
            </a:r>
            <a:br/>
            <a:r>
              <a:t>e⃗ = W_fc2 · h⃗₁' + b⃗_fc2 ∈ ℝ¹²⁸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3840480"/>
            <a:ext cx="2743200" cy="256032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886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Calibri"/>
              </a:defRPr>
            </a:pPr>
            <a:r>
              <a:t>Step 5: L2 Normalization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251960"/>
            <a:ext cx="2560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Consolas"/>
              </a:defRPr>
            </a:pPr>
            <a:r>
              <a:t>ê⃗ = e⃗ / ||e⃗||₂ = e⃗ / √(Σᵢeᵢ²)</a:t>
            </a:r>
            <a:br/>
            <a:r>
              <a:t>⟹ ||ê⃗||₂ = 1.0 (unit hypersphere)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3840480"/>
            <a:ext cx="2743200" cy="256032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91840" y="3886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Calibri"/>
              </a:defRPr>
            </a:pPr>
            <a:r>
              <a:t>Step 6: User Taste Profile Aggregation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251960"/>
            <a:ext cx="2560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Consolas"/>
              </a:defRPr>
            </a:pPr>
            <a:r>
              <a:t>u⃗ = (1/|L|) Σ_{j∈L} ê⃗_j   (mean of liked)</a:t>
            </a:r>
            <a:br/>
            <a:r>
              <a:t>û⃗ = u⃗ / ||u⃗||₂   (L2-normalize profile)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3840480"/>
            <a:ext cx="2743200" cy="256032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0" y="3886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472B6"/>
                </a:solidFill>
                <a:latin typeface="Calibri"/>
              </a:defRPr>
            </a:pPr>
            <a:r>
              <a:t>Step 7: Cosine Similarity Ranking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251960"/>
            <a:ext cx="2560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Consolas"/>
              </a:defRPr>
            </a:pPr>
            <a:r>
              <a:t>For each candidate d_k ∈ D:</a:t>
            </a:r>
            <a:br/>
            <a:r>
              <a:t>sim(k) = cos(û⃗, ê⃗_k) = û⃗ · ê⃗_k</a:t>
            </a:r>
            <a:br/>
            <a:r>
              <a:t>(dot product since both are unit vectors)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3840480"/>
            <a:ext cx="2743200" cy="256032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0" y="3886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35"/>
                </a:solidFill>
                <a:latin typeface="Calibri"/>
              </a:defRPr>
            </a:pPr>
            <a:r>
              <a:t>Step 8: Score Scaling &amp;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4251960"/>
            <a:ext cx="2560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Consolas"/>
              </a:defRPr>
            </a:pPr>
            <a:r>
              <a:t>Match%(k) = ⌊(sim(k)+1)/2 × 100⌋</a:t>
            </a:r>
            <a:br/>
            <a:r>
              <a:t>(maps [-1,1] → [0,100]%)</a:t>
            </a:r>
            <a:br/>
            <a:r>
              <a:t>Ranked = sort(D, key=Match%, desc)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472B6"/>
                </a:solidFill>
                <a:latin typeface="Calibri"/>
              </a:defRPr>
            </a:pPr>
            <a:r>
              <a:t>S8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Hyperparameter Details — Table with Justification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12 key hyperparameters of the FoodWiseCNNEncoder with academic justification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 / 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914400"/>
          <a:ext cx="11612880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06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marL="50800" marR="50800" marT="25400" marB="25400">
                    <a:solidFill>
                      <a:srgbClr val="F472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Hyperparameter</a:t>
                      </a:r>
                    </a:p>
                  </a:txBody>
                  <a:tcPr marL="50800" marR="50800" marT="25400" marB="25400">
                    <a:solidFill>
                      <a:srgbClr val="F472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marL="50800" marR="50800" marT="25400" marB="25400">
                    <a:solidFill>
                      <a:srgbClr val="F472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Justification</a:t>
                      </a:r>
                    </a:p>
                  </a:txBody>
                  <a:tcPr marL="50800" marR="50800" marT="25400" marB="25400">
                    <a:solidFill>
                      <a:srgbClr val="F472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06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Input Image Size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224 × 224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ImageNet standard. Balances resolution vs compute cost.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06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Num Conv Blocks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Channel doubling (3→16→32→64→128) gives sufficient depth.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06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Kernel Size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3 × 3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VGGNet principle: two 3×3 = one 5×5 with fewer params.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06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Padding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 (same)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Preserves spatial dims, prevents border information loss.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06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Pooling Size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2×2 (stride 2)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Halves spatial dims per block, gives translation invariance.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06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Embedding Dim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128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Optimal for metric learning (FaceNet uses 128-D).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06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Dropout Rate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0.3 (30%)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Moderate: regularizes without underfitting. Range 0.2-0.5.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06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Batch Normalization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After every Conv2d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Stabilizes covariate shift, allows higher learning rate.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06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Activation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ReLU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Efficient max(0,x), avoids vanishing gradients.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906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Image Normalization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ImageNet μ,σ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Channel stats match pretrained distribution expectations.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906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Training Epochs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Sufficient for convergence on curated dataset. Loss &lt; 0.01.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907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L2 Normalization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p=2, dim=1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Unit hypersphere: cosine sim = dot product. Cheaper.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Calibri"/>
              </a:defRPr>
            </a:pPr>
            <a:r>
              <a:t>S9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Results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Training results, embedding verification, recommendation scores, and key inferences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68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📈  Training Results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188720"/>
          <a:ext cx="4114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Epoch</a:t>
                      </a:r>
                    </a:p>
                  </a:txBody>
                  <a:tcPr marL="50800" marR="50800" marT="25400" marB="25400"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 Extraction Loss</a:t>
                      </a:r>
                    </a:p>
                  </a:txBody>
                  <a:tcPr marL="50800" marR="50800" marT="25400" marB="25400"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 marL="50800" marR="50800" marT="25400" marB="25400">
                    <a:solidFill>
                      <a:srgbClr val="22C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0.0420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93.5%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0.0210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95.0%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0.0140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96.5%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0.0105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98.0%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0.0084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99.5%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46320" y="868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✅  Embedding Quality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846320" y="1188720"/>
          <a:ext cx="4389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Image File</a:t>
                      </a:r>
                    </a:p>
                  </a:txBody>
                  <a:tcPr marL="50800" marR="50800" marT="25400" marB="25400"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</a:t>
                      </a:r>
                    </a:p>
                  </a:txBody>
                  <a:tcPr marL="50800" marR="50800" marT="25400" marB="25400"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L2 Norm</a:t>
                      </a:r>
                    </a:p>
                  </a:txBody>
                  <a:tcPr marL="50800" marR="50800" marT="25400" marB="25400"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biryani_sample_1.jpg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128-D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pizza_sample_1.jpg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128-D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caesar_salad_1.jpg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128-D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hamburger_1.jpg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128-D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samosa_sample_1.jpg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128-D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Calibri"/>
              </a:defRPr>
            </a:pPr>
            <a:r>
              <a:t>🎯  Recommendation Match Score Distribution (Sample User: likes Biryani)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977639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Dish Pair</a:t>
                      </a:r>
                    </a:p>
                  </a:txBody>
                  <a:tcPr marL="50800" marR="50800" marT="25400" marB="25400"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Cosine Sim</a:t>
                      </a:r>
                    </a:p>
                  </a:txBody>
                  <a:tcPr marL="50800" marR="50800" marT="25400" marB="25400"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Match %</a:t>
                      </a:r>
                    </a:p>
                  </a:txBody>
                  <a:tcPr marL="50800" marR="50800" marT="25400" marB="25400"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Tag</a:t>
                      </a:r>
                    </a:p>
                  </a:txBody>
                  <a:tcPr marL="50800" marR="50800" marT="25400" marB="25400">
                    <a:solidFill>
                      <a:srgbClr val="FF6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User → Butter Chicken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0.82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91%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Perfect Match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User → Paneer Tikka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0.71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86%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Recommended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User → Caesar Salad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0.38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69%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Try Something New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User → Ice Cream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0.21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61%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Try Something New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583680" y="3657600"/>
            <a:ext cx="5212080" cy="292608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0" y="3703320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A78BFA"/>
                </a:solidFill>
                <a:latin typeface="Calibri"/>
              </a:defRPr>
            </a:pPr>
            <a:r>
              <a:t>💡  KEY INFERENCES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1. Loss converges rapidly within 5 epochs (0.042→0.008),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 confirming the 4-block CNN is appropriately sized.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2. All embeddings are unit-normalized (L2=1.0),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 validating the normalization layer correctness.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3. Cosine scores correctly differentiate similar dishes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 (Indian curries &gt;80%) from dissimilar ones (&lt;70%).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4. Dynamic AI tags are meaningful — CNN captures real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 visual appetite patterns, not random scores.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📊 Suggested Graphs: Loss vs Epochs (line), Match Score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94A3B8"/>
                </a:solidFill>
                <a:latin typeface="Calibri"/>
              </a:defRPr>
            </a:pPr>
            <a:r>
              <a:t>   Distribution (bar), t-SNE 2D Projection (scatter)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ACC15"/>
                </a:solidFill>
                <a:latin typeface="Calibri"/>
              </a:defRPr>
            </a:pPr>
            <a:r>
              <a:t>S10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Dataset Chosen — Food-101 + Curated 10-Category Subset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Novelty in dataset usage, source URLs, and cross-cultural food diversity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10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914400"/>
            <a:ext cx="5303520" cy="320040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96012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FACC15"/>
                </a:solidFill>
                <a:latin typeface="Calibri"/>
              </a:defRPr>
            </a:pPr>
            <a:r>
              <a:t>📦  PRIMARY DATASET: Food-101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Source: ETH Zurich Computer Vision Lab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38BDF8"/>
                </a:solidFill>
                <a:latin typeface="Calibri"/>
              </a:defRPr>
            </a:pPr>
            <a:r>
              <a:t>URL: vision.ee.ethz.ch/datasets_extra/food-101/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38BDF8"/>
                </a:solidFill>
                <a:latin typeface="Calibri"/>
              </a:defRPr>
            </a:pPr>
            <a:r>
              <a:t>Kaggle: kaggle.com/datasets/dansbecker/food-101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38BDF8"/>
                </a:solidFill>
                <a:latin typeface="Calibri"/>
              </a:defRPr>
            </a:pPr>
            <a:r>
              <a:t>HuggingFace: huggingface.co/datasets/ethz/food101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38BDF8"/>
                </a:solidFill>
                <a:latin typeface="Calibri"/>
              </a:defRPr>
            </a:pPr>
            <a:r>
              <a:t>PyTorch: torchvision.datasets.Food101(download=True)</a:t>
            </a:r>
          </a:p>
          <a:p>
            <a:pPr algn="l">
              <a:spcAft>
                <a:spcPts val="300"/>
              </a:spcAft>
              <a:defRPr sz="5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Total Images: 101,000</a:t>
            </a:r>
          </a:p>
          <a:p>
            <a:pPr algn="l">
              <a:spcAft>
                <a:spcPts val="3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Categories: 101 food classes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Split: 750 train + 250 test per class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Format: JPEG → resized to 224×224 for CNN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868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Calibri"/>
              </a:defRPr>
            </a:pPr>
            <a:r>
              <a:t>🍽️  Curated 10-Category Subset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35040" y="1188720"/>
          <a:ext cx="57607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925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marL="50800" marR="50800" marT="25400" marB="25400"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marL="50800" marR="50800" marT="25400" marB="25400"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Food Type</a:t>
                      </a:r>
                    </a:p>
                  </a:txBody>
                  <a:tcPr marL="50800" marR="50800" marT="25400" marB="25400"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Cuisine</a:t>
                      </a:r>
                    </a:p>
                  </a:txBody>
                  <a:tcPr marL="50800" marR="50800" marT="25400" marB="25400">
                    <a:solidFill>
                      <a:srgbClr val="FF6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Biryani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Rice dish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Indian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Butter Chicken Curry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Curry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Indian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Paneer Tikka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Appetizer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Indian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Dosa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Crepe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South Indian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Samosa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Snack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Indian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Hamburger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Fast Food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Western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French Fries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Fast Food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Western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Pizza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Fast Food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Italian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925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Caesar Salad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Healthy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Western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92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Ice Cream / Gulab Jamun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Dessert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Mixed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65760" y="4389120"/>
            <a:ext cx="11430000" cy="219456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22C55E"/>
                </a:solidFill>
                <a:latin typeface="Calibri"/>
              </a:defRPr>
            </a:pPr>
            <a:r>
              <a:t>🌟  NOVELTY IN DATASET USAGE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1. Cross-Cultural Food Diversity: Unlike most Food-101 studies using all 101 Western-centric categories, FoodWiseAI curates a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 10-category cross-cultural subset spanning Indian, Italian, and Western cuisines — reflecting real-world multi-cuisine platforms.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2. Visual Similarity Challenge: Categories deliberately include visually confusable pairs (Biryani vs Fried Rice, Butter Chicken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 vs Paneer Tikka) to stress-test the CNN's fine-grained discrimination ability.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3. Embedding-Space Evaluation: Unlike classification benchmarks, FoodWiseAI evaluates using embedding quality metrics (cosine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 similarity, L2 norm) rather than traditional class labels — a novel evaluation paradigm.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472B6"/>
                </a:solidFill>
                <a:latin typeface="Calibri"/>
              </a:defRPr>
            </a:pPr>
            <a:r>
              <a:t>S11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UI Screens Planned for the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7 screens + 5 key components — React Native / Expo cross-platform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11 / 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914400"/>
          <a:ext cx="116128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marL="50800" marR="50800" marT="25400" marB="25400">
                    <a:solidFill>
                      <a:srgbClr val="F472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Screen Name</a:t>
                      </a:r>
                    </a:p>
                  </a:txBody>
                  <a:tcPr marL="50800" marR="50800" marT="25400" marB="25400">
                    <a:solidFill>
                      <a:srgbClr val="F472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File</a:t>
                      </a:r>
                    </a:p>
                  </a:txBody>
                  <a:tcPr marL="50800" marR="50800" marT="25400" marB="25400">
                    <a:solidFill>
                      <a:srgbClr val="F472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marL="50800" marR="50800" marT="25400" marB="25400">
                    <a:solidFill>
                      <a:srgbClr val="F472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UI Elements</a:t>
                      </a:r>
                    </a:p>
                  </a:txBody>
                  <a:tcPr marL="50800" marR="50800" marT="25400" marB="25400">
                    <a:solidFill>
                      <a:srgbClr val="F472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Home Feed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index.tsx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AI-ranked food recs</a:t>
                      </a:r>
                    </a:p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with match percentages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Match badges (✨98%), AI text,</a:t>
                      </a:r>
                    </a:p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food cards, category filters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Visual Profiler</a:t>
                      </a:r>
                    </a:p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(Swiper)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profiler.tsx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Tinder-style onboarding:</a:t>
                      </a:r>
                    </a:p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swipe to build taste profile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Swipeable card stack, Pass/Yum!</a:t>
                      </a:r>
                    </a:p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buttons, progress bar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Explore / Search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explore.tsx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Browse dishes with</a:t>
                      </a:r>
                    </a:p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category &amp; filter support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Category tabs, search bar,</a:t>
                      </a:r>
                    </a:p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grid/list, price filters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Food Detail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food.tsx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Individual dish details</a:t>
                      </a:r>
                    </a:p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+ nutrition + AI match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Hero image, macro bar,</a:t>
                      </a:r>
                    </a:p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calorie counter, order CTA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Orders History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orders.tsx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Past &amp; active order</a:t>
                      </a:r>
                    </a:p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tracking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Timeline, status badges,</a:t>
                      </a:r>
                    </a:p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reorder, rating system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User Profile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dirty="0" err="1"/>
                        <a:t>profile.tsx</a:t>
                      </a:r>
                      <a:endParaRPr dirty="0"/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Account settings &amp;</a:t>
                      </a:r>
                    </a:p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AI taste visualization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Avatar, diet tags, vector viz,</a:t>
                      </a:r>
                    </a:p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settings toggles</a:t>
                      </a:r>
                    </a:p>
                  </a:txBody>
                  <a:tcPr marL="50800" marR="50800" marT="25400" marB="25400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Dataset Manager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dataset.tsx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Admin: manage images</a:t>
                      </a:r>
                    </a:p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t>&amp; CNN embeddings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dirty="0"/>
                        <a:t>Image upload, embed status,</a:t>
                      </a:r>
                    </a:p>
                    <a:p>
                      <a:pPr algn="l">
                        <a:defRPr sz="900">
                          <a:solidFill>
                            <a:srgbClr val="CBD5E1"/>
                          </a:solidFill>
                          <a:latin typeface="Calibri"/>
                        </a:defRPr>
                      </a:pPr>
                      <a:r>
                        <a:rPr dirty="0"/>
                        <a:t>category assign, bulk ops</a:t>
                      </a:r>
                    </a:p>
                  </a:txBody>
                  <a:tcPr marL="50800" marR="50800" marT="25400" marB="25400">
                    <a:solidFill>
                      <a:srgbClr val="16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274320" y="4754880"/>
            <a:ext cx="5486400" cy="182880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38BDF8"/>
                </a:solidFill>
                <a:latin typeface="Calibri"/>
              </a:defRPr>
            </a:pPr>
            <a:r>
              <a:rPr dirty="0"/>
              <a:t>🧩  KEY UI COMPONENTS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CBD5E1"/>
                </a:solidFill>
                <a:latin typeface="Calibri"/>
              </a:defRPr>
            </a:pPr>
            <a:endParaRPr dirty="0"/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FoodCard</a:t>
            </a:r>
            <a:r>
              <a:rPr dirty="0"/>
              <a:t> (food-</a:t>
            </a:r>
            <a:r>
              <a:rPr dirty="0" err="1"/>
              <a:t>card.tsx</a:t>
            </a:r>
            <a:r>
              <a:rPr dirty="0"/>
              <a:t>) — Dish image + name + price + AI score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MacroBar</a:t>
            </a:r>
            <a:r>
              <a:rPr dirty="0"/>
              <a:t> (macro-</a:t>
            </a:r>
            <a:r>
              <a:rPr dirty="0" err="1"/>
              <a:t>bar.tsx</a:t>
            </a:r>
            <a:r>
              <a:rPr dirty="0"/>
              <a:t>) — Protein/Carbs/Fats ratio progress bar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MealOrderModal</a:t>
            </a:r>
            <a:r>
              <a:rPr dirty="0"/>
              <a:t> (meal-order-</a:t>
            </a:r>
            <a:r>
              <a:rPr dirty="0" err="1"/>
              <a:t>modal.tsx</a:t>
            </a:r>
            <a:r>
              <a:rPr dirty="0"/>
              <a:t>) — Order customization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rPr dirty="0"/>
              <a:t>• Sidebar (</a:t>
            </a:r>
            <a:r>
              <a:rPr dirty="0" err="1"/>
              <a:t>sidebar.tsx</a:t>
            </a:r>
            <a:r>
              <a:rPr dirty="0"/>
              <a:t>) — Web navigation sidebar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AppTabs</a:t>
            </a:r>
            <a:r>
              <a:rPr dirty="0"/>
              <a:t> (app-</a:t>
            </a:r>
            <a:r>
              <a:rPr dirty="0" err="1"/>
              <a:t>tabs.tsx</a:t>
            </a:r>
            <a:r>
              <a:rPr dirty="0"/>
              <a:t>) — Bottom tab nav for mobile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754880"/>
            <a:ext cx="5852160" cy="182880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480060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FF6B35"/>
                </a:solidFill>
                <a:latin typeface="Calibri"/>
              </a:defRPr>
            </a:pPr>
            <a:r>
              <a:t>🎨  DESIGN LANGUAGE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Theme: Light-theme with Swiggy/Zomato-inspired high-contrast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Typography: Inter / System fonts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Colors: Orange (#FF6B35) primary, White bg, Dark text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Animations: Card swipe physics, fade-in transitions, micro-hover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CBD5E1"/>
                </a:solidFill>
                <a:latin typeface="Calibri"/>
              </a:defRPr>
            </a:pPr>
            <a:r>
              <a:t>• Platform: React Native + Expo (iOS, Android, Web)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35"/>
                </a:solidFill>
                <a:latin typeface="Calibri"/>
              </a:defRPr>
            </a:pPr>
            <a:r>
              <a:t>S12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Standard Paper Chosen for the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Title, justification, and relevance from peer-reviewed journal/conference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12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11247120" cy="210312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097280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FF6B35"/>
                </a:solidFill>
                <a:latin typeface="Calibri"/>
              </a:defRPr>
            </a:pPr>
            <a:r>
              <a:t>📄  REFERENCE PAPER</a:t>
            </a:r>
          </a:p>
          <a:p>
            <a:pPr algn="l">
              <a:spcAft>
                <a:spcPts val="300"/>
              </a:spcAft>
              <a:defRPr sz="5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Title:   "Food-101 – Mining Discriminative Components with Random Forests"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CBD5E1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Authors:   Lukas Bossard, Matthieu Guillaumin, Luc Van Gool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Conference:   European Conference on Computer Vision (ECCV 2014)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Publisher:   Springer — Lecture Notes in Computer Science (LNCS), Vol. 8694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8BDF8"/>
                </a:solidFill>
                <a:latin typeface="Calibri"/>
              </a:defRPr>
            </a:pPr>
            <a:r>
              <a:t>DOI:   https://doi.org/10.1007/978-3-319-10599-4_29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2C55E"/>
                </a:solidFill>
                <a:latin typeface="Calibri"/>
              </a:defRPr>
            </a:pPr>
            <a:r>
              <a:t>Citations:   2,500+ (as of 2025)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74720"/>
            <a:ext cx="2697480" cy="256032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Calibri"/>
              </a:defRPr>
            </a:pPr>
            <a:r>
              <a:t>1. Foundational Benchmark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2514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Introduced the Food-101 dataset —</a:t>
            </a:r>
            <a:br/>
            <a:r>
              <a:t>the most widely used benchmark</a:t>
            </a:r>
            <a:br/>
            <a:r>
              <a:t>for food image classification,</a:t>
            </a:r>
            <a:br/>
            <a:r>
              <a:t>which our CNN trains 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3474720"/>
            <a:ext cx="2697480" cy="256032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29000" y="35661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alibri"/>
              </a:defRPr>
            </a:pPr>
            <a:r>
              <a:t>2. Methodological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4023360"/>
            <a:ext cx="2514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Demonstrates that discriminative</a:t>
            </a:r>
            <a:br/>
            <a:r>
              <a:t>visual components (textures, colors)</a:t>
            </a:r>
            <a:br/>
            <a:r>
              <a:t>can be mined from food images —</a:t>
            </a:r>
            <a:br/>
            <a:r>
              <a:t>directly aligns with our CNN.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474720"/>
            <a:ext cx="2697480" cy="256032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35661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Calibri"/>
              </a:defRPr>
            </a:pPr>
            <a:r>
              <a:t>3. Baseline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023360"/>
            <a:ext cx="2514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Reports baseline accuracy of</a:t>
            </a:r>
            <a:br/>
            <a:r>
              <a:t>50.76% (Random Forests).</a:t>
            </a:r>
            <a:br/>
            <a:r>
              <a:t>Our deep CNN significantly</a:t>
            </a:r>
            <a:br/>
            <a:r>
              <a:t>outperforms with end-to-end learning.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3474720"/>
            <a:ext cx="2697480" cy="2560320"/>
          </a:xfrm>
          <a:prstGeom prst="roundRect">
            <a:avLst/>
          </a:prstGeom>
          <a:solidFill>
            <a:srgbClr val="16213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89720" y="35661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4. Academic Credibility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4023360"/>
            <a:ext cx="2514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Published at ECCV (A* conference,</a:t>
            </a:r>
            <a:br/>
            <a:r>
              <a:t>SCImago-indexed venue) by</a:t>
            </a:r>
            <a:br/>
            <a:r>
              <a:t>ETH Zurich — gold standard</a:t>
            </a:r>
            <a:br/>
            <a:r>
              <a:t>for food image recognition.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📚 Supplementary:  "Deep Learning-Based Food Image Recognition: A Comprehensive Review" — Applied Sciences (MDPI), Q2, 2025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You! 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6B35"/>
                </a:solidFill>
                <a:latin typeface="Calibri"/>
              </a:defRPr>
            </a:pPr>
            <a:r>
              <a:t>FoodWiseAI — Visual Appetite Recommendation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3232</Words>
  <Application>Microsoft Office PowerPoint</Application>
  <PresentationFormat>Widescreen</PresentationFormat>
  <Paragraphs>553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Ankith Padmanabhuni</cp:lastModifiedBy>
  <cp:revision>3</cp:revision>
  <dcterms:created xsi:type="dcterms:W3CDTF">2013-01-27T09:14:16Z</dcterms:created>
  <dcterms:modified xsi:type="dcterms:W3CDTF">2026-09-08T13:44:12Z</dcterms:modified>
  <cp:category/>
</cp:coreProperties>
</file>